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C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4208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3657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🔐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Audit &amp; Logging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CAE9FF"/>
                </a:solidFill>
              </a:rPr>
              <a:t>Database Auditing and Compliance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35478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Project 8  ·  BUAN 6320  ·  MySQL  ·  AuditLoggingDB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Roles: Overview  ·  DB Design  ·  Queries  ·  Procedures  ·  Functions  ·  Triggers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C5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Presentation Roadmap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E9FF"/>
                </a:solidFill>
              </a:rPr>
              <a:t>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206240" cy="11887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502920" cy="1188720"/>
          </a:xfrm>
          <a:prstGeom prst="rect">
            <a:avLst/>
          </a:prstGeom>
          <a:solidFill>
            <a:srgbClr val="0D2C5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686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03327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C54"/>
                </a:solidFill>
              </a:rPr>
              <a:t>Project Overview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39903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Purpose, goals &amp; compliance frameworks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240280"/>
            <a:ext cx="4206240" cy="11887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240280"/>
            <a:ext cx="502920" cy="1188720"/>
          </a:xfrm>
          <a:prstGeom prst="rect">
            <a:avLst/>
          </a:prstGeom>
          <a:solidFill>
            <a:srgbClr val="1D4E8F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2402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240487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C54"/>
                </a:solidFill>
              </a:rPr>
              <a:t>Database Design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77063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17 tables, keys, relationships &amp; ERD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611880"/>
            <a:ext cx="4206240" cy="11887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611880"/>
            <a:ext cx="502920" cy="118872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6118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377647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C54"/>
                </a:solidFill>
              </a:rPr>
              <a:t>Complex Queries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14223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CTEs, window functions, subqueries (10 Q's)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92040" y="868680"/>
            <a:ext cx="4206240" cy="11887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868680"/>
            <a:ext cx="502920" cy="1188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8686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86400" y="103327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C54"/>
                </a:solidFill>
              </a:rPr>
              <a:t>Stored Procedures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139903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5 procedures — auditing workflow logic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92040" y="2240280"/>
            <a:ext cx="4206240" cy="11887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2240280"/>
            <a:ext cx="502920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2402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86400" y="240487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C54"/>
                </a:solidFill>
              </a:rPr>
              <a:t>User-Defined Funcs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0" y="277063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5 scalar functions — risk &amp; compliance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92040" y="3611880"/>
            <a:ext cx="4206240" cy="11887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3611880"/>
            <a:ext cx="502920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6118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86400" y="377647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C54"/>
                </a:solidFill>
              </a:rPr>
              <a:t>Triggers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0" y="414223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5 triggers — automation &amp; enforcement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C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005840" cy="100584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E9FF"/>
                </a:solidFill>
              </a:rPr>
              <a:t>🧭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737360" y="141732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Project Overview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737360" y="2331720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E9FF"/>
                </a:solidFill>
              </a:rPr>
              <a:t>Purpose, Goals &amp; Compliance Context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" y="46634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90B0"/>
                </a:solidFill>
              </a:rPr>
              <a:t>BUAN 6320  ·  Project 8  ·  AuditLoggingDB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C5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is the Audit &amp; Logging System?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E9FF"/>
                </a:solidFill>
              </a:rPr>
              <a:t>Section 1 · 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069080" cy="40233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777240"/>
            <a:ext cx="4069080" cy="384048"/>
          </a:xfrm>
          <a:prstGeom prst="rect">
            <a:avLst/>
          </a:prstGeom>
          <a:solidFill>
            <a:srgbClr val="0D2C54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Purpose &amp; Goals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4069080" cy="384048"/>
          </a:xfrm>
          <a:prstGeom prst="rect">
            <a:avLst/>
          </a:prstGeom>
          <a:solidFill>
            <a:srgbClr val="0D2C54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777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Purpose &amp; Goals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3444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</a:rPr>
              <a:t>Track every user action in a central MySQL database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</a:rPr>
              <a:t>Detect policy violations and raise automated alerts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</a:rPr>
              <a:t>Compute user risk scores based on activity patterns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</a:rPr>
              <a:t>Map audit events to compliance controls (SOC 2, GDPR, HIPAA, PCI-DSS, ISO 27001)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</a:rPr>
              <a:t>Generate compliance reports with a calculated score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</a:rPr>
              <a:t>Enforce log immutability — audit records cannot be deleted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4251960" cy="40233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777240"/>
            <a:ext cx="4251960" cy="384048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2" name="Text 10"/>
          <p:cNvSpPr/>
          <p:nvPr/>
        </p:nvSpPr>
        <p:spPr>
          <a:xfrm>
            <a:off x="4681728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Compliance Frameworks Covered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81728" y="1280160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1728" y="1280160"/>
            <a:ext cx="64008" cy="530352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3075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C54"/>
                </a:solidFill>
              </a:rPr>
              <a:t>SOC 2 Type II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1554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CC6.1/6.2/7.2 – Logical access &amp; threat detection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81728" y="1938528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1728" y="1938528"/>
            <a:ext cx="64008" cy="530352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9659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C54"/>
                </a:solidFill>
              </a:rPr>
              <a:t>GDPR (2018)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0600" y="22128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Art.30 &amp; Art.32 – Processing records &amp; data security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81728" y="2596896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81728" y="2596896"/>
            <a:ext cx="64008" cy="530352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6243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C54"/>
                </a:solidFill>
              </a:rPr>
              <a:t>HIPAA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00600" y="28712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§164.312(b) – Audit controls for PHI access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81728" y="3255264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1728" y="3255264"/>
            <a:ext cx="64008" cy="530352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2826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C54"/>
                </a:solidFill>
              </a:rPr>
              <a:t>PCI-DSS v4.0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00600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Req.8 &amp; Req.10 – Auth &amp; access monitoring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81728" y="3913632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1728" y="3913632"/>
            <a:ext cx="64008" cy="530352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39410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C54"/>
                </a:solidFill>
              </a:rPr>
              <a:t>ISO 27001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00600" y="41879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A.12.4 – Logging and monitoring controls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C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005840" cy="100584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E9FF"/>
                </a:solidFill>
              </a:rPr>
              <a:t>🗄️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737360" y="141732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Database Design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737360" y="2331720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E9FF"/>
                </a:solidFill>
              </a:rPr>
              <a:t>17 Tables, Relationships &amp; Schema Overview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" y="46634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90B0"/>
                </a:solidFill>
              </a:rPr>
              <a:t>BUAN 6320  ·  Project 8  ·  AuditLoggingDB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C5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Schema Overview — 17 Tables Across 5 Domains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E9FF"/>
                </a:solidFill>
              </a:rPr>
              <a:t>Section 2 · DB Design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2788920" cy="205740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2788920" cy="347472"/>
          </a:xfrm>
          <a:prstGeom prst="rect">
            <a:avLst/>
          </a:prstGeom>
          <a:solidFill>
            <a:srgbClr val="0D2C5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046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Identity &amp; Access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" y="1188720"/>
            <a:ext cx="2606040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roles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users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user_roles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user_risk_scores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27248" y="804672"/>
            <a:ext cx="2788920" cy="205740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27248" y="804672"/>
            <a:ext cx="2788920" cy="347472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1" name="Text 9"/>
          <p:cNvSpPr/>
          <p:nvPr/>
        </p:nvSpPr>
        <p:spPr>
          <a:xfrm>
            <a:off x="3218688" y="8046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Event Logging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36976" y="1188720"/>
            <a:ext cx="2606040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audit_events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query_logs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login_logs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schema_change_logs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25896" y="804672"/>
            <a:ext cx="2788920" cy="205740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25896" y="804672"/>
            <a:ext cx="2788920" cy="347472"/>
          </a:xfrm>
          <a:prstGeom prst="rect">
            <a:avLst/>
          </a:prstGeom>
          <a:solidFill>
            <a:srgbClr val="1D4E8F"/>
          </a:solidFill>
          <a:ln/>
        </p:spPr>
      </p:sp>
      <p:sp>
        <p:nvSpPr>
          <p:cNvPr id="15" name="Text 13"/>
          <p:cNvSpPr/>
          <p:nvPr/>
        </p:nvSpPr>
        <p:spPr>
          <a:xfrm>
            <a:off x="6117336" y="8046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Asset Registry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35624" y="1188720"/>
            <a:ext cx="2606040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database_registry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sensitive_tables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3044952"/>
            <a:ext cx="4206240" cy="205740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044952"/>
            <a:ext cx="420624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04495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Compliance &amp; Policy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" y="3429000"/>
            <a:ext cx="4023360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compliance_frameworks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compliance_controls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audit_policies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alert_rules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3044952"/>
            <a:ext cx="4206240" cy="205740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3044952"/>
            <a:ext cx="420624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304495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Alerts &amp; Reports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81728" y="3429000"/>
            <a:ext cx="4023360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alerts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policy_violations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generated_reports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4681728"/>
            <a:ext cx="8686800" cy="347472"/>
          </a:xfrm>
          <a:prstGeom prst="rect">
            <a:avLst/>
          </a:prstGeom>
          <a:solidFill>
            <a:srgbClr val="0D2C54"/>
          </a:solidFill>
          <a:ln w="12700">
            <a:solidFill>
              <a:srgbClr val="0D2C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Key Design Decisions:  Surrogate PKs on all tables  ·  Cascading FK deletes where appropriate  ·  CHECK constraints enforce allowed values  ·  BIGINT for high-volume audit_events &amp; query_logs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C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005840" cy="100584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E9FF"/>
                </a:solidFill>
              </a:rPr>
              <a:t>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737360" y="141732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Complex Queries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737360" y="2331720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E9FF"/>
                </a:solidFill>
              </a:rPr>
              <a:t>10 SQL Queries with Advanced Techniques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" y="46634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90B0"/>
                </a:solidFill>
              </a:rPr>
              <a:t>BUAN 6320  ·  Project 8  ·  AuditLoggingDB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C5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10 Queries — Advanced SQL Techniques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E9FF"/>
                </a:solidFill>
              </a:rPr>
              <a:t>Section 3 · Queries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25196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502920" cy="749808"/>
          </a:xfrm>
          <a:prstGeom prst="rect">
            <a:avLst/>
          </a:prstGeom>
          <a:solidFill>
            <a:srgbClr val="0D2C54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80467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5528" y="85953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C54"/>
                </a:solidFill>
              </a:rPr>
              <a:t>Multi-table JOIN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5528" y="113385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Joins audit_events + users + database_registry + query_logs to surface high/critical events with full context.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655064"/>
            <a:ext cx="425196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655064"/>
            <a:ext cx="502920" cy="749808"/>
          </a:xfrm>
          <a:prstGeom prst="rect">
            <a:avLst/>
          </a:prstGeom>
          <a:solidFill>
            <a:srgbClr val="0D2C54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" y="165506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5528" y="17099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C54"/>
                </a:solidFill>
              </a:rPr>
              <a:t>Aggregation &amp; CASE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95528" y="198424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Event count per user, breakdown by severity, and % of critical events using SUM(condition).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2505456"/>
            <a:ext cx="425196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505456"/>
            <a:ext cx="502920" cy="749808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" y="250545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5528" y="2560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C54"/>
                </a:solidFill>
              </a:rPr>
              <a:t>Subquery – AVG compare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95528" y="28346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Finds users whose risk score exceeds the database-wide average risk score.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3355848"/>
            <a:ext cx="425196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355848"/>
            <a:ext cx="502920" cy="749808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" y="335584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" y="34107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C54"/>
                </a:solidFill>
              </a:rPr>
              <a:t>CTE + Window Function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95528" y="368503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Common Table Expression computes daily event counts; SUM() OVER PARTITION adds a running total per database.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4206240"/>
            <a:ext cx="425196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4206240"/>
            <a:ext cx="502920" cy="749808"/>
          </a:xfrm>
          <a:prstGeom prst="rect">
            <a:avLst/>
          </a:prstGeom>
          <a:solidFill>
            <a:srgbClr val="1D4E8F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" y="42062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5528" y="426110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C54"/>
                </a:solidFill>
              </a:rPr>
              <a:t>3-table JOIN + GROUP BY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95528" y="453542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Maps policy violations → audit policies → compliance frameworks → controls with violation counts.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804672"/>
            <a:ext cx="425196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804672"/>
            <a:ext cx="502920" cy="749808"/>
          </a:xfrm>
          <a:prstGeom prst="rect">
            <a:avLst/>
          </a:prstGeom>
          <a:solidFill>
            <a:srgbClr val="1D4E8F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80467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76088" y="85953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C54"/>
                </a:solidFill>
              </a:rPr>
              <a:t>Nested Subquery HAVING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276088" y="113385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DBs with more open alerts than the average, using a derived table inside HAVING.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1655064"/>
            <a:ext cx="425196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1655064"/>
            <a:ext cx="502920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4709160" y="165506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76088" y="17099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C54"/>
                </a:solidFill>
              </a:rPr>
              <a:t>RANK() Window Function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276088" y="198424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Ranks users by risk score within each department using RANK() OVER (PARTITION BY department).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2505456"/>
            <a:ext cx="425196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2505456"/>
            <a:ext cx="502920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4709160" y="250545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76088" y="2560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C54"/>
                </a:solidFill>
              </a:rPr>
              <a:t>JOIN + Sensitive Tables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276088" y="28346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Access frequency per user-table pair, joined against sensitive_tables for classification context.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09160" y="3355848"/>
            <a:ext cx="425196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09160" y="3355848"/>
            <a:ext cx="502920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4709160" y="335584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76088" y="34107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C54"/>
                </a:solidFill>
              </a:rPr>
              <a:t>Compliance Summary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276088" y="368503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LEFT JOINs across frameworks, reports, and controls for a coverage dashboard.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9160" y="4206240"/>
            <a:ext cx="425196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09160" y="4206240"/>
            <a:ext cx="502920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2" name="Text 50"/>
          <p:cNvSpPr/>
          <p:nvPr/>
        </p:nvSpPr>
        <p:spPr>
          <a:xfrm>
            <a:off x="4709160" y="42062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76088" y="426110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C54"/>
                </a:solidFill>
              </a:rPr>
              <a:t>Correlated Subquery ANY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276088" y="453542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Finds users with more violations than ANY auditor, using a correlated subquery with ANY operator.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C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005840" cy="100584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4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E9FF"/>
                </a:solidFill>
              </a:rPr>
              <a:t>⚙️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737360" y="141732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Stored Procedures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737360" y="2331720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E9FF"/>
                </a:solidFill>
              </a:rPr>
              <a:t>5 Procedures Automating the Audit Workflow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" y="46634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90B0"/>
                </a:solidFill>
              </a:rPr>
              <a:t>BUAN 6320  ·  Project 8  ·  AuditLoggingDB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C5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 Stored Procedures — Audit Workflow Engine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E9FF"/>
                </a:solidFill>
              </a:rPr>
              <a:t>Section 4 · Procedures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868680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164592" cy="749808"/>
          </a:xfrm>
          <a:prstGeom prst="rect">
            <a:avLst/>
          </a:prstGeom>
          <a:solidFill>
            <a:srgbClr val="0D2C5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41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C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sp_record_audit_event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338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Params: db_id, user_id, event_type, ip, session_id, severity, description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389120" y="941832"/>
            <a:ext cx="0" cy="47548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877824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Core entry point — INSERTs a new row into audit_events and returns the new event_id. Standardizes how all events are logged.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655064"/>
            <a:ext cx="868680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655064"/>
            <a:ext cx="164592" cy="749808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C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sp_resolve_alert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19842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Params: alert_id, resolver_user_id, status, notes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89120" y="1792224"/>
            <a:ext cx="0" cy="47548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728216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Closes an alert with 'resolved' or 'false_positive'. Raises SIGNAL error for invalid status or missing alert.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505456"/>
            <a:ext cx="868680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505456"/>
            <a:ext cx="164592" cy="749808"/>
          </a:xfrm>
          <a:prstGeom prst="rect">
            <a:avLst/>
          </a:prstGeom>
          <a:solidFill>
            <a:srgbClr val="1D4E8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42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C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sp_recompute_risk_score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8346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Params: user_id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89120" y="2642616"/>
            <a:ext cx="0" cy="47548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57860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Counts failed logins, policy violations, and sensitive table accesses in the last 30 days. Computes a weighted score (0–100) and calls fn_get_risk_level(). Uses INSERT … ON DUPLICATE KEY UPDATE.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3355848"/>
            <a:ext cx="868680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355848"/>
            <a:ext cx="164592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3924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C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sp_generate_compliance_report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6850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Params: framework_id, generated_by, start_date, end_date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89120" y="3493008"/>
            <a:ext cx="0" cy="47548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42900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Totals events and open alerts for a period, calls fn_compliance_score(), then INSERTs a new row in generated_reports. Returns the report summary inline.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4206240"/>
            <a:ext cx="868680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4206240"/>
            <a:ext cx="164592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2428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C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sp_user_activity_summary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5354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Params: user_id, days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389120" y="4343400"/>
            <a:ext cx="0" cy="47548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427939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Single SELECT with correlated subqueries returning totals for SELECTs, writes, DDL, high-severity events, violations, and current risk score for a given user.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C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005840" cy="100584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E9FF"/>
                </a:solidFill>
              </a:rPr>
              <a:t>𝑓(x)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737360" y="141732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User-Defined Functions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737360" y="2331720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E9FF"/>
                </a:solidFill>
              </a:rPr>
              <a:t>5 Scalar Functions for Risk &amp; Compliance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" y="46634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90B0"/>
                </a:solidFill>
              </a:rPr>
              <a:t>BUAN 6320  ·  Project 8  ·  AuditLoggingDB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C5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 User-Defined Functions — Reusable Business Logic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E9FF"/>
                </a:solidFill>
              </a:rPr>
              <a:t>Section 5 · Functions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2743200" cy="12344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2743200" cy="347472"/>
          </a:xfrm>
          <a:prstGeom prst="rect">
            <a:avLst/>
          </a:prstGeom>
          <a:solidFill>
            <a:srgbClr val="0D2C5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046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fn_get_risk_level(score)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Returns VARCHAR(20)  ·  DETERMINISTIC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371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Maps a numeric risk score to a label: ≥80 → critical, ≥60 → high, ≥35 → medium, else low. Used by sp_recompute_risk_score and any direct query.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2221992"/>
            <a:ext cx="2743200" cy="12344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221992"/>
            <a:ext cx="2743200" cy="347472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2219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fn_failed_logins(user_id, days)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5877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Returns INT  ·  READS SQL DATA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27889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Counts rows in login_logs where status='failed' and login_time is within the last N days for a given user.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3639312"/>
            <a:ext cx="2743200" cy="12344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639312"/>
            <a:ext cx="2743200" cy="347472"/>
          </a:xfrm>
          <a:prstGeom prst="rect">
            <a:avLst/>
          </a:prstGeom>
          <a:solidFill>
            <a:srgbClr val="1D4E8F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6393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fn_compliance_score(fw_id, start, end)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400507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Returns DECIMAL(5,2)  ·  READS SQL DATA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4206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Score = 100 − (violations / total_events × 100). Clamps result to [0, 100] using GREATEST/LEAST. Returns 100 if no events exist.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804672"/>
            <a:ext cx="4206240" cy="12344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804672"/>
            <a:ext cx="420624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80467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fn_open_alerts(db_id)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117043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Returns INT  ·  READS SQL DATA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137160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Counts alerts with status IN ('open','acknowledged') for a specific database. Simple COUNT with a WHERE filter.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0" y="2221992"/>
            <a:ext cx="4206240" cy="12344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2221992"/>
            <a:ext cx="420624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222199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fn_query_risk(query_type, table, rows)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258775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Returns VARCHAR(10)  ·  READS SQL DATA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27889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Looks up the sensitivity_level of the target table, then applies a priority decision tree: DELETE on critical/high → critical; bulk SELECT &gt;5000 rows on sensitive tables → critical; etc.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C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005840" cy="100584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6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E9FF"/>
                </a:solidFill>
              </a:rPr>
              <a:t>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737360" y="141732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Triggers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737360" y="2331720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E9FF"/>
                </a:solidFill>
              </a:rPr>
              <a:t>5 Triggers for Automation &amp; Enforcement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" y="46634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90B0"/>
                </a:solidFill>
              </a:rPr>
              <a:t>BUAN 6320  ·  Project 8  ·  AuditLoggingDB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C5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 Triggers — Automation, Validation &amp; Immutability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E9FF"/>
                </a:solidFill>
              </a:rPr>
              <a:t>Section 6 · Triggers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868680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77240"/>
            <a:ext cx="1417320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77240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Automation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813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C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trg_user_after_insert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10972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INSERT on users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37760" y="886968"/>
            <a:ext cx="0" cy="5303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850392"/>
            <a:ext cx="3767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Automatically creates a user_risk_scores row with score=0 and risk_level='low' every time a new user is added. Ensures referential completeness — no user ever lacks a risk profile.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1627632"/>
            <a:ext cx="868680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1627632"/>
            <a:ext cx="1417320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" y="1627632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1664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C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trg_audit_event_before_insert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83080" y="19476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INSERT on audit_events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37760" y="1737360"/>
            <a:ext cx="0" cy="5303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1700784"/>
            <a:ext cx="3767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Validates that the severity value is one of the allowed constants. Raises SIGNAL SQLSTATE '45000' with a descriptive message if invalid. Blocks bad data before it enters the immutable log.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478024"/>
            <a:ext cx="868680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478024"/>
            <a:ext cx="1417320" cy="749808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" y="2478024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Automation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8308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C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trg_ddl_event_auto_log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83080" y="27980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INSERT on audit_events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2587752"/>
            <a:ext cx="0" cy="5303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2551176"/>
            <a:ext cx="3767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Whenever a DDL_CREATE, DDL_DROP, or DDL_ALTER event is logged, automatically inserts a corresponding row in schema_change_logs. Guarantees DDL activity is always captured in both tables.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3328416"/>
            <a:ext cx="868680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328416"/>
            <a:ext cx="1417320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00" y="3328416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Alerting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783080" y="33649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C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trg_critical_event_auto_alert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783080" y="36484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INSERT on audit_events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37760" y="3438144"/>
            <a:ext cx="0" cy="5303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3401568"/>
            <a:ext cx="3767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If the newly inserted event has severity='critical', an alert is automatically raised in the alerts table with status='open'. Eliminates the need for application code to detect and escalate critical events.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28600" y="4178808"/>
            <a:ext cx="868680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28600" y="4178808"/>
            <a:ext cx="1417320" cy="749808"/>
          </a:xfrm>
          <a:prstGeom prst="rect">
            <a:avLst/>
          </a:prstGeom>
          <a:solidFill>
            <a:srgbClr val="0D2C54"/>
          </a:solidFill>
          <a:ln/>
        </p:spPr>
      </p:sp>
      <p:sp>
        <p:nvSpPr>
          <p:cNvPr id="35" name="Text 33"/>
          <p:cNvSpPr/>
          <p:nvPr/>
        </p:nvSpPr>
        <p:spPr>
          <a:xfrm>
            <a:off x="228600" y="4178808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Enforcement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783080" y="4215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C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trg_audit_events_no_delete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783080" y="44988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DELETE on audit_events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37760" y="4288536"/>
            <a:ext cx="0" cy="5303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4251960"/>
            <a:ext cx="3767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Unconditionally raises SIGNAL SQLSTATE '45000' blocking any DELETE from audit_events. Enforces log immutability required by SOC 2, HIPAA, and PCI-DSS — even DBAs cannot erase audit records.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C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1572768" cy="24688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15568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17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208483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Tables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46888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5 relational domains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21408" y="1005840"/>
            <a:ext cx="1572768" cy="2468880"/>
          </a:xfrm>
          <a:prstGeom prst="rect">
            <a:avLst/>
          </a:prstGeom>
          <a:solidFill>
            <a:srgbClr val="1D4E8F"/>
          </a:solidFill>
          <a:ln w="12700">
            <a:solidFill>
              <a:srgbClr val="1D4E8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21408" y="1115568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10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121408" y="208483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SQL Queries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21408" y="246888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CTEs, Window Fns, Subqueries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31336" y="1005840"/>
            <a:ext cx="1572768" cy="2468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31336" y="1115568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5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831336" y="208483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Procedures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31336" y="246888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Full audit workflow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41264" y="1005840"/>
            <a:ext cx="1572768" cy="2468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41264" y="1115568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5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5541264" y="208483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Functions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41264" y="246888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Risk &amp; compliance logic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251192" y="1005840"/>
            <a:ext cx="1572768" cy="2468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51192" y="1115568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5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7251192" y="208483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Triggers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51192" y="246888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Enforce &amp; automate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36576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E9FF"/>
                </a:solidFill>
              </a:rPr>
              <a:t>Compliance Frameworks Supported: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39319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SOC 2 Type II   ·   GDPR   ·   HIPAA   ·   PCI-DSS v4.0   ·   ISO 27001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11480" y="4434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A9396"/>
                </a:solidFill>
              </a:rPr>
              <a:t>Thank you —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&amp; Logging System – Project 8</dc:title>
  <dc:subject>PptxGenJS Presentation</dc:subject>
  <dc:creator>PptxGenJS</dc:creator>
  <cp:lastModifiedBy>PptxGenJS</cp:lastModifiedBy>
  <cp:revision>1</cp:revision>
  <dcterms:created xsi:type="dcterms:W3CDTF">2026-04-28T06:05:00Z</dcterms:created>
  <dcterms:modified xsi:type="dcterms:W3CDTF">2026-04-28T06:05:00Z</dcterms:modified>
</cp:coreProperties>
</file>